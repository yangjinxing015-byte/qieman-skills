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8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1B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DBEBFF"/>
                </a:solidFill>
                <a:latin typeface="Microsoft YaHei"/>
                <a:ea typeface="Microsoft YaHei"/>
              </a:rPr>
              <a:t>qieman-ui-design  ·  L0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且慢 App 字号规范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DBEBFF"/>
                </a:solidFill>
                <a:latin typeface="Microsoft YaHei"/>
                <a:ea typeface="Microsoft YaHei"/>
              </a:rPr>
              <a:t>Typography Scale  ·  11px – 40px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9CCBF8"/>
                </a:solidFill>
                <a:latin typeface="Microsoft YaHei"/>
                <a:ea typeface="Microsoft YaHei"/>
              </a:rPr>
              <a:t>统一 Token 命名 · 字号 / 字重 / 行高 · 场景模板 · 评审清单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盈米基金 / 且慢  ·  设计系统文档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DBEBFF"/>
                </a:solidFill>
                <a:latin typeface="Microsoft YaHei"/>
                <a:ea typeface="Microsoft YaHei"/>
              </a:rPr>
              <a:t>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333333"/>
                </a:solidFill>
                <a:latin typeface="Microsoft YaHei"/>
                <a:ea typeface="Microsoft YaHei"/>
              </a:rPr>
              <a:t>01  规范定位与字体栈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99999"/>
                </a:solidFill>
                <a:latin typeface="Microsoft YaHei"/>
                <a:ea typeface="Microsoft YaHei"/>
              </a:rPr>
              <a:t>生成或评审界面时，优先引用 token，禁止临时硬编码未登记字号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DBEBFF"/>
          </a:solidFill>
          <a:ln w="12700">
            <a:solidFill>
              <a:srgbClr val="9CC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本规范是且慢 App / H5 金融界面的字号落地标准：统一 Token、字号/字重/行高、使用场景与禁区。品牌气质见 qieman-brand-guidelines；App 落地以 L0 本表为准。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09728" cy="2377440"/>
          </a:xfrm>
          <a:prstGeom prst="rect">
            <a:avLst/>
          </a:prstGeom>
          <a:solidFill>
            <a:srgbClr val="1B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</a:rPr>
              <a:t>正文字体栈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88EE"/>
                </a:solidFill>
                <a:latin typeface="Microsoft YaHei"/>
                <a:ea typeface="Microsoft YaHei"/>
              </a:rPr>
              <a:t>--font-sans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PingFang SC / MiSans / system-ui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99999"/>
                </a:solidFill>
                <a:latin typeface="Microsoft YaHei"/>
                <a:ea typeface="Microsoft YaHei"/>
              </a:rPr>
              <a:t>中文标题、正文、按钮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219456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2194560"/>
            <a:ext cx="109728" cy="2377440"/>
          </a:xfrm>
          <a:prstGeom prst="rect">
            <a:avLst/>
          </a:prstGeom>
          <a:solidFill>
            <a:srgbClr val="1B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377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</a:rPr>
              <a:t>数字字体栈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88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88EE"/>
                </a:solidFill>
                <a:latin typeface="Microsoft YaHei"/>
                <a:ea typeface="Microsoft YaHei"/>
              </a:rPr>
              <a:t>--font-number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154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MiSans / DIN Alternate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99999"/>
                </a:solidFill>
                <a:latin typeface="Microsoft YaHei"/>
                <a:ea typeface="Microsoft YaHei"/>
              </a:rPr>
              <a:t>收益率、金额、百分比、仓位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19456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194560"/>
            <a:ext cx="109728" cy="2377440"/>
          </a:xfrm>
          <a:prstGeom prst="rect">
            <a:avLst/>
          </a:prstGeom>
          <a:solidFill>
            <a:srgbClr val="1B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377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</a:rPr>
              <a:t>等宽字体栈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788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88EE"/>
                </a:solidFill>
                <a:latin typeface="Microsoft YaHei"/>
                <a:ea typeface="Microsoft YaHei"/>
              </a:rPr>
              <a:t>--font-mono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154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Courier New / monospace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931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99999"/>
                </a:solidFill>
                <a:latin typeface="Microsoft YaHei"/>
                <a:ea typeface="Microsoft YaHei"/>
              </a:rPr>
              <a:t>代码、原始数据（非营销正文）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33333"/>
                </a:solidFill>
                <a:latin typeface="Microsoft YaHei"/>
                <a:ea typeface="Microsoft YaHei"/>
              </a:rPr>
              <a:t>使用注意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1) 不随界面引入第二套展示字体   2) 不输出字体文件，仅声明字体族   3) VIP 海报宋体标题不混入标准 App 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qieman-ui-design · L0 typography  |  且慢设计规范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333333"/>
                </a:solidFill>
                <a:latin typeface="Microsoft YaHei"/>
                <a:ea typeface="Microsoft YaHei"/>
              </a:rPr>
              <a:t>02  字号色阶 · 展示 / 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99999"/>
                </a:solidFill>
                <a:latin typeface="Microsoft YaHei"/>
                <a:ea typeface="Microsoft YaHei"/>
              </a:rPr>
              <a:t>单位：px（375 设计稿逻辑像素）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47120" cy="43891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34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Microsoft YaHei"/>
                <a:ea typeface="Microsoft YaHei"/>
              </a:rPr>
              <a:t>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0128" y="12344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Microsoft YaHei"/>
                <a:ea typeface="Microsoft YaHei"/>
              </a:rPr>
              <a:t>字号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2344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Microsoft YaHei"/>
                <a:ea typeface="Microsoft YaHei"/>
              </a:rPr>
              <a:t>字重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4688" y="12344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Microsoft YaHei"/>
                <a:ea typeface="Microsoft YaHei"/>
              </a:rPr>
              <a:t>行高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234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Microsoft YaHei"/>
                <a:ea typeface="Microsoft YaHei"/>
              </a:rPr>
              <a:t>用途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81912"/>
            <a:ext cx="11247120" cy="43891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6733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88EE"/>
                </a:solidFill>
                <a:latin typeface="Microsoft YaHei"/>
                <a:ea typeface="Microsoft YaHei"/>
              </a:rPr>
              <a:t>hero-display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16733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16733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700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16733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1.18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16733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H5 首屏、报告封面主标题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20824"/>
            <a:ext cx="112471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11226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88EE"/>
                </a:solidFill>
                <a:latin typeface="Microsoft YaHei"/>
                <a:ea typeface="Microsoft YaHei"/>
              </a:rPr>
              <a:t>display-lg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21122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21122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700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4688" y="21122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1.22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211226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页面主标题、大模块标题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59736"/>
            <a:ext cx="11247120" cy="43891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25511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88EE"/>
                </a:solidFill>
                <a:latin typeface="Microsoft YaHei"/>
                <a:ea typeface="Microsoft YaHei"/>
              </a:rPr>
              <a:t>display-md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128" y="25511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25511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600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04688" y="25511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1.28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255117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二级分区标题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898648"/>
            <a:ext cx="112471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29900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88EE"/>
                </a:solidFill>
                <a:latin typeface="Microsoft YaHei"/>
                <a:ea typeface="Microsoft YaHei"/>
              </a:rPr>
              <a:t>title-lg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0128" y="2990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2990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600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04688" y="29900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1.30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29900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模块标题、图表组标题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337560"/>
            <a:ext cx="11247120" cy="43891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3429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88EE"/>
                </a:solidFill>
                <a:latin typeface="Microsoft YaHei"/>
                <a:ea typeface="Microsoft YaHei"/>
              </a:rPr>
              <a:t>title-md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0128" y="34290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07408" y="34290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600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04688" y="34290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1.35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01968" y="3429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卡片标题、弹窗标题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776472"/>
            <a:ext cx="112471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38679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88EE"/>
                </a:solidFill>
                <a:latin typeface="Microsoft YaHei"/>
                <a:ea typeface="Microsoft YaHei"/>
              </a:rPr>
              <a:t>title-sm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0128" y="38679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07408" y="38679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600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04688" y="38679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1.40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1968" y="38679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小卡片 / 列表标题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480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Microsoft YaHei"/>
                <a:ea typeface="Microsoft YaHei"/>
              </a:rPr>
              <a:t>视觉色阶（字号相对高度）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4709160"/>
            <a:ext cx="502920" cy="1234440"/>
          </a:xfrm>
          <a:prstGeom prst="roundRect">
            <a:avLst>
              <a:gd name="adj" fmla="val 8000"/>
            </a:avLst>
          </a:prstGeom>
          <a:solidFill>
            <a:srgbClr val="1B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59893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99999"/>
                </a:solidFill>
                <a:latin typeface="Microsoft YaHei"/>
                <a:ea typeface="Microsoft YaHei"/>
              </a:rPr>
              <a:t>40px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468880" y="4910328"/>
            <a:ext cx="502920" cy="1033272"/>
          </a:xfrm>
          <a:prstGeom prst="roundRect">
            <a:avLst>
              <a:gd name="adj" fmla="val 8000"/>
            </a:avLst>
          </a:prstGeom>
          <a:solidFill>
            <a:srgbClr val="1B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31720" y="59893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99999"/>
                </a:solidFill>
                <a:latin typeface="Microsoft YaHei"/>
                <a:ea typeface="Microsoft YaHei"/>
              </a:rPr>
              <a:t>32px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97680" y="5061204"/>
            <a:ext cx="502920" cy="882396"/>
          </a:xfrm>
          <a:prstGeom prst="roundRect">
            <a:avLst>
              <a:gd name="adj" fmla="val 8000"/>
            </a:avLst>
          </a:prstGeom>
          <a:solidFill>
            <a:srgbClr val="1B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60520" y="59893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99999"/>
                </a:solidFill>
                <a:latin typeface="Microsoft YaHei"/>
                <a:ea typeface="Microsoft YaHei"/>
              </a:rPr>
              <a:t>26px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26480" y="5111496"/>
            <a:ext cx="502920" cy="832104"/>
          </a:xfrm>
          <a:prstGeom prst="roundRect">
            <a:avLst>
              <a:gd name="adj" fmla="val 8000"/>
            </a:avLst>
          </a:prstGeom>
          <a:solidFill>
            <a:srgbClr val="1B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89320" y="59893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99999"/>
                </a:solidFill>
                <a:latin typeface="Microsoft YaHei"/>
                <a:ea typeface="Microsoft YaHei"/>
              </a:rPr>
              <a:t>24px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55279" y="5212080"/>
            <a:ext cx="502920" cy="731520"/>
          </a:xfrm>
          <a:prstGeom prst="roundRect">
            <a:avLst>
              <a:gd name="adj" fmla="val 8000"/>
            </a:avLst>
          </a:prstGeom>
          <a:solidFill>
            <a:srgbClr val="1B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18119" y="59893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99999"/>
                </a:solidFill>
                <a:latin typeface="Microsoft YaHei"/>
                <a:ea typeface="Microsoft YaHei"/>
              </a:rPr>
              <a:t>20px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84080" y="5262372"/>
            <a:ext cx="502920" cy="681228"/>
          </a:xfrm>
          <a:prstGeom prst="roundRect">
            <a:avLst>
              <a:gd name="adj" fmla="val 8000"/>
            </a:avLst>
          </a:prstGeom>
          <a:solidFill>
            <a:srgbClr val="1B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46920" y="59893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99999"/>
                </a:solidFill>
                <a:latin typeface="Microsoft YaHei"/>
                <a:ea typeface="Microsoft YaHei"/>
              </a:rPr>
              <a:t>18px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qieman-ui-design · L0 typography  |  且慢设计规范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333333"/>
                </a:solidFill>
                <a:latin typeface="Microsoft YaHei"/>
                <a:ea typeface="Microsoft YaHei"/>
              </a:rPr>
              <a:t>02  字号色阶 · 正文 / 说明 / 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99999"/>
                </a:solidFill>
                <a:latin typeface="Microsoft YaHei"/>
                <a:ea typeface="Microsoft YaHei"/>
              </a:rPr>
              <a:t>风险披露下限 11px · 长段落正文不低于 15px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61288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</a:rPr>
              <a:t>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161288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</a:rPr>
              <a:t>字号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161288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</a:rPr>
              <a:t>字重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161288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</a:rPr>
              <a:t>行高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161288"/>
            <a:ext cx="5596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Microsoft YaHei"/>
                <a:ea typeface="Microsoft YaHei"/>
              </a:rPr>
              <a:t>用途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81328"/>
            <a:ext cx="11247120" cy="38404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545336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B88EE"/>
                </a:solidFill>
                <a:latin typeface="Microsoft YaHei"/>
                <a:ea typeface="Microsoft YaHei"/>
              </a:rPr>
              <a:t>body-lg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545336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545336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400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545336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1.55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545336"/>
            <a:ext cx="5596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主要正文、摘要段落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865376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1929384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B88EE"/>
                </a:solidFill>
                <a:latin typeface="Microsoft YaHei"/>
                <a:ea typeface="Microsoft YaHei"/>
              </a:rPr>
              <a:t>body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1929384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1929384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400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929384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1.55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929384"/>
            <a:ext cx="5596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标准正文、表格正文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249424"/>
            <a:ext cx="11247120" cy="38404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313432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B88EE"/>
                </a:solidFill>
                <a:latin typeface="Microsoft YaHei"/>
                <a:ea typeface="Microsoft YaHei"/>
              </a:rPr>
              <a:t>body-sm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2313432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2313432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400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2313432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1.50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313432"/>
            <a:ext cx="5596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次级正文、卡片内说明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633472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697480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B88EE"/>
                </a:solidFill>
                <a:latin typeface="Microsoft YaHei"/>
                <a:ea typeface="Microsoft YaHei"/>
              </a:rPr>
              <a:t>button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2697480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2697480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600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2697480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1.00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2697480"/>
            <a:ext cx="5596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主/次按钮文字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017520"/>
            <a:ext cx="11247120" cy="38404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081528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B88EE"/>
                </a:solidFill>
                <a:latin typeface="Microsoft YaHei"/>
                <a:ea typeface="Microsoft YaHei"/>
              </a:rPr>
              <a:t>caption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3081528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081528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400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3081528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1.45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081528"/>
            <a:ext cx="5596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图例、标签、辅助信息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401568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3465576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B88EE"/>
                </a:solidFill>
                <a:latin typeface="Microsoft YaHei"/>
                <a:ea typeface="Microsoft YaHei"/>
              </a:rPr>
              <a:t>caption-sm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08960" y="3465576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3465576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400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3465576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1.45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3465576"/>
            <a:ext cx="5596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时间、地区、数据来源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785616"/>
            <a:ext cx="11247120" cy="38404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3849624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B88EE"/>
                </a:solidFill>
                <a:latin typeface="Microsoft YaHei"/>
                <a:ea typeface="Microsoft YaHei"/>
              </a:rPr>
              <a:t>micro-legal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08960" y="3849624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3849624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400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20640" y="3849624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1.45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3849624"/>
            <a:ext cx="5596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风险披露、法律声明（下限）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169664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233672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B88EE"/>
                </a:solidFill>
                <a:latin typeface="Microsoft YaHei"/>
                <a:ea typeface="Microsoft YaHei"/>
              </a:rPr>
              <a:t>number-xl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08960" y="4233672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36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4233672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700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0640" y="4233672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1.10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4233672"/>
            <a:ext cx="5596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总资产、关键金额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4553712"/>
            <a:ext cx="11247120" cy="38404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4617720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B88EE"/>
                </a:solidFill>
                <a:latin typeface="Microsoft YaHei"/>
                <a:ea typeface="Microsoft YaHei"/>
              </a:rPr>
              <a:t>number-lg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08960" y="4617720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28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0" y="4617720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700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20640" y="4617720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1.12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0" y="4617720"/>
            <a:ext cx="5596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指标卡核心数字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937760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5001768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B88EE"/>
                </a:solidFill>
                <a:latin typeface="Microsoft YaHei"/>
                <a:ea typeface="Microsoft YaHei"/>
              </a:rPr>
              <a:t>number-md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08960" y="5001768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4800" y="5001768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600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20640" y="5001768"/>
            <a:ext cx="932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1.20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26480" y="5001768"/>
            <a:ext cx="5596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06060"/>
                </a:solidFill>
                <a:latin typeface="Microsoft YaHei"/>
                <a:ea typeface="Microsoft YaHei"/>
              </a:rPr>
              <a:t>小指标数字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548640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DBEBFF"/>
          </a:solidFill>
          <a:ln w="12700">
            <a:solidFill>
              <a:srgbClr val="9CC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下限：界面可读文字不得低于 11px；风险披露、费用说明、免责声明必须 ≥ micro-legal。数字须配单位、时间口径与必要来源。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qieman-ui-design · L0 typography  |  且慢设计规范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333333"/>
                </a:solidFill>
                <a:latin typeface="Microsoft YaHei"/>
                <a:ea typeface="Microsoft YaHei"/>
              </a:rPr>
              <a:t>03  分组用法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99999"/>
                </a:solidFill>
                <a:latin typeface="Microsoft YaHei"/>
                <a:ea typeface="Microsoft YaHei"/>
              </a:rPr>
              <a:t>先选分组，再选具体 token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6118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611880" cy="502920"/>
          </a:xfrm>
          <a:prstGeom prst="rect">
            <a:avLst/>
          </a:prstGeom>
          <a:solidFill>
            <a:srgbClr val="1B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展示 / 标题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88EE"/>
                </a:solidFill>
                <a:latin typeface="Microsoft YaHei"/>
                <a:ea typeface="Microsoft YaHei"/>
              </a:rPr>
              <a:t>hero-display · 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长期主义财富规划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88EE"/>
                </a:solidFill>
                <a:latin typeface="Microsoft YaHei"/>
                <a:ea typeface="Microsoft YaHei"/>
              </a:rPr>
              <a:t>display-lg · 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815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思远定投全球好资产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49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88EE"/>
                </a:solidFill>
                <a:latin typeface="Microsoft YaHei"/>
                <a:ea typeface="Microsoft YaHei"/>
              </a:rPr>
              <a:t>title-md ·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41647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波动进一步加大了怎么办？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09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88EE"/>
                </a:solidFill>
                <a:latin typeface="Microsoft YaHei"/>
                <a:ea typeface="Microsoft YaHei"/>
              </a:rPr>
              <a:t>title-sm ·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017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投资闲聊话题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097280"/>
            <a:ext cx="36118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1097280"/>
            <a:ext cx="3611880" cy="502920"/>
          </a:xfrm>
          <a:prstGeom prst="rect">
            <a:avLst/>
          </a:prstGeom>
          <a:solidFill>
            <a:srgbClr val="1B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正文 / 按钮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88EE"/>
                </a:solidFill>
                <a:latin typeface="Microsoft YaHei"/>
                <a:ea typeface="Microsoft YaHei"/>
              </a:rPr>
              <a:t>body-lg · 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1214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主要正文、摘要段落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788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88EE"/>
                </a:solidFill>
                <a:latin typeface="Microsoft YaHei"/>
                <a:ea typeface="Microsoft YaHei"/>
              </a:rPr>
              <a:t>body · 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0815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标准正文、表单、表格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749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88EE"/>
                </a:solidFill>
                <a:latin typeface="Microsoft YaHei"/>
                <a:ea typeface="Microsoft YaHei"/>
              </a:rPr>
              <a:t>body-sm ·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41647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次级正文、卡片说明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709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88EE"/>
                </a:solidFill>
                <a:latin typeface="Microsoft YaHei"/>
                <a:ea typeface="Microsoft YaHei"/>
              </a:rPr>
              <a:t>button · 16/600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0017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联系助理 · 确认配置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1097280"/>
            <a:ext cx="36118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1097280"/>
            <a:ext cx="3611880" cy="502920"/>
          </a:xfrm>
          <a:prstGeom prst="rect">
            <a:avLst/>
          </a:prstGeom>
          <a:solidFill>
            <a:srgbClr val="1B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说明 / 合规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88EE"/>
                </a:solidFill>
                <a:latin typeface="Microsoft YaHei"/>
                <a:ea typeface="Microsoft YaHei"/>
              </a:rPr>
              <a:t>caption · 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1214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策略陪伴圈 · 89,999+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788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88EE"/>
                </a:solidFill>
                <a:latin typeface="Microsoft YaHei"/>
                <a:ea typeface="Microsoft YaHei"/>
              </a:rPr>
              <a:t>caption-sm ·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0815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更新于 2 个月前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7490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88EE"/>
                </a:solidFill>
                <a:latin typeface="Microsoft YaHei"/>
                <a:ea typeface="Microsoft YaHei"/>
              </a:rPr>
              <a:t>micro-legal · 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041647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历史不预示未来收益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709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88EE"/>
                </a:solidFill>
                <a:latin typeface="Microsoft YaHei"/>
                <a:ea typeface="Microsoft YaHei"/>
              </a:rPr>
              <a:t>勿用 disabled 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50017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风险提示需可读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qieman-ui-design · L0 typography  |  且慢设计规范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333333"/>
                </a:solidFill>
                <a:latin typeface="Microsoft YaHei"/>
                <a:ea typeface="Microsoft YaHei"/>
              </a:rPr>
              <a:t>04  金融数字层级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99999"/>
                </a:solidFill>
                <a:latin typeface="Microsoft YaHei"/>
                <a:ea typeface="Microsoft YaHei"/>
              </a:rPr>
              <a:t>数字字体栈 · 单位与口径同屏可见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1188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88EE"/>
                </a:solidFill>
                <a:latin typeface="Microsoft YaHei"/>
                <a:ea typeface="Microsoft YaHei"/>
              </a:rPr>
              <a:t>number-xl · 36 / 700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B88EE"/>
                </a:solidFill>
                <a:latin typeface="Microsoft YaHei"/>
                <a:ea typeface="Microsoft YaHei"/>
              </a:rPr>
              <a:t>¥1,286,450.00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总资产 / 关键金额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188720"/>
            <a:ext cx="361188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17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88EE"/>
                </a:solidFill>
                <a:latin typeface="Microsoft YaHei"/>
                <a:ea typeface="Microsoft YaHei"/>
              </a:rPr>
              <a:t>number-lg · 28 / 700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659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B88EE"/>
                </a:solidFill>
                <a:latin typeface="Microsoft YaHei"/>
                <a:ea typeface="Microsoft YaHei"/>
              </a:rPr>
              <a:t>+12.86%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017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指标卡核心收益率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188720"/>
            <a:ext cx="361188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17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88EE"/>
                </a:solidFill>
                <a:latin typeface="Microsoft YaHei"/>
                <a:ea typeface="Microsoft YaHei"/>
              </a:rPr>
              <a:t>number-md · 22 / 600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659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B88EE"/>
                </a:solidFill>
                <a:latin typeface="Microsoft YaHei"/>
                <a:ea typeface="Microsoft YaHei"/>
              </a:rPr>
              <a:t>3.25%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列表 / 次级指标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11247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062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</a:rPr>
              <a:t>数字旁必须可见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75488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0F6FF"/>
          </a:solidFill>
          <a:ln w="12700">
            <a:solidFill>
              <a:srgbClr val="9CC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88EE"/>
                </a:solidFill>
                <a:latin typeface="Microsoft YaHei"/>
                <a:ea typeface="Microsoft YaHei"/>
              </a:rPr>
              <a:t>单位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57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元 / % / 天 / 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475488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0F6FF"/>
          </a:solidFill>
          <a:ln w="12700">
            <a:solidFill>
              <a:srgbClr val="9CC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88EE"/>
                </a:solidFill>
                <a:latin typeface="Microsoft YaHei"/>
                <a:ea typeface="Microsoft YaHei"/>
              </a:rPr>
              <a:t>时间口径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257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近一年 · 截至某日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75488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0F6FF"/>
          </a:solidFill>
          <a:ln w="12700">
            <a:solidFill>
              <a:srgbClr val="9CC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88EE"/>
                </a:solidFill>
                <a:latin typeface="Microsoft YaHei"/>
                <a:ea typeface="Microsoft YaHei"/>
              </a:rPr>
              <a:t>数据来源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257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必要时标注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5400" y="475488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0F6FF"/>
          </a:solidFill>
          <a:ln w="12700">
            <a:solidFill>
              <a:srgbClr val="9CC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88EE"/>
                </a:solidFill>
                <a:latin typeface="Microsoft YaHei"/>
                <a:ea typeface="Microsoft YaHei"/>
              </a:rPr>
              <a:t>风险提示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5257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历史不预示未来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qieman-ui-design · L0 typography  |  且慢设计规范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333333"/>
                </a:solidFill>
                <a:latin typeface="Microsoft YaHei"/>
                <a:ea typeface="Microsoft YaHei"/>
              </a:rPr>
              <a:t>05  场景组合模板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99999"/>
                </a:solidFill>
                <a:latin typeface="Microsoft YaHei"/>
                <a:ea typeface="Microsoft YaHei"/>
              </a:rPr>
              <a:t>同一卡片字号层级 ≤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</a:rPr>
              <a:t>圈子帖子卡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1463040" cy="292608"/>
          </a:xfrm>
          <a:prstGeom prst="roundRect">
            <a:avLst>
              <a:gd name="adj" fmla="val 8000"/>
            </a:avLst>
          </a:prstGeom>
          <a:solidFill>
            <a:srgbClr val="F0F6FF"/>
          </a:solidFill>
          <a:ln w="12700">
            <a:solidFill>
              <a:srgbClr val="9CC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647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B88EE"/>
                </a:solidFill>
                <a:latin typeface="Microsoft YaHei"/>
                <a:ea typeface="Microsoft YaHei"/>
              </a:rPr>
              <a:t>某策略主理人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333333"/>
                </a:solidFill>
                <a:latin typeface="Microsoft YaHei"/>
                <a:ea typeface="Microsoft YaHei"/>
              </a:rPr>
              <a:t>波动进一步加大了怎么办？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市场又到了波动加剧的阶段，不少朋友最近开始焦虑了起来，这完全没必要。我们看的是长期资产配置节奏……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57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99999"/>
                </a:solidFill>
                <a:latin typeface="Microsoft YaHei"/>
                <a:ea typeface="Microsoft YaHei"/>
              </a:rPr>
              <a:t>更新于 2 个月前 · 广东省广州市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风险提示：内容仅供交流，不构成投资建议。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548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88EE"/>
                </a:solidFill>
                <a:latin typeface="Microsoft YaHei"/>
                <a:ea typeface="Microsoft YaHei"/>
              </a:rPr>
              <a:t>层级组合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标题 17/600 → 正文 15 → 时间 12 → 合规 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097280"/>
            <a:ext cx="54864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</a:rPr>
              <a:t>指标卡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99999"/>
                </a:solidFill>
                <a:latin typeface="Microsoft YaHei"/>
                <a:ea typeface="Microsoft YaHei"/>
              </a:rPr>
              <a:t>近一年收益率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031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B88EE"/>
                </a:solidFill>
                <a:latin typeface="Microsoft YaHei"/>
                <a:ea typeface="Microsoft YaHei"/>
              </a:rPr>
              <a:t>+12.86%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caption 14 → number-lg 28 → caption-sm 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0332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F0F6FF"/>
          </a:solidFill>
          <a:ln w="12700">
            <a:solidFill>
              <a:srgbClr val="9CC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886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Microsoft YaHei"/>
                <a:ea typeface="Microsoft YaHei"/>
              </a:rPr>
              <a:t>主操作区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3434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按钮文字：button 16 / 600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触控高度 ≥ 44px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按钮旁辅助：caption-sm（费用 / 到账时间）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H5 首屏：一屏一个观点，风险入口不可隐藏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qieman-ui-design · L0 typography  |  且慢设计规范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333333"/>
                </a:solidFill>
                <a:latin typeface="Microsoft YaHei"/>
                <a:ea typeface="Microsoft YaHei"/>
              </a:rPr>
              <a:t>06  Do / Don’t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99999"/>
                </a:solidFill>
                <a:latin typeface="Microsoft YaHei"/>
                <a:ea typeface="Microsoft YaHei"/>
              </a:rPr>
              <a:t>可读、克制、可落地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486400" cy="502920"/>
          </a:xfrm>
          <a:prstGeom prst="rect">
            <a:avLst/>
          </a:prstGeom>
          <a:solidFill>
            <a:srgbClr val="07A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070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Do  建议这样做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1.  使用完整 token（字号 + 字重 + 行高）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2.  先标题/结论，再正文解释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3.  数字用 --font-number，并配单位与口径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4.  风险提示 ≥ 11px，颜色可读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06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5.  移动端安全边距 16px，正文行高 1.5–1.55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00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6.  单卡片字号层级 ≤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097280"/>
            <a:ext cx="54864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097280"/>
            <a:ext cx="5486400" cy="502920"/>
          </a:xfrm>
          <a:prstGeom prst="rect">
            <a:avLst/>
          </a:prstGeom>
          <a:solidFill>
            <a:srgbClr val="FA4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2070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Don’t  避免这些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828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1.  同卡片堆叠超过 3 个字号层级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23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2.  用小于 15px 做长段落正文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017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3.  风险披露做成过浅灰 / 过小字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611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4.  超大装饰字号抢过核心金融数据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06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5.  临时字号：19 / 21 / 23 / 27px 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800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</a:rPr>
              <a:t>6.  用 emoji 替代正式层级或图标语义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qieman-ui-design · L0 typography  |  且慢设计规范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333333"/>
                </a:solidFill>
                <a:latin typeface="Microsoft YaHei"/>
                <a:ea typeface="Microsoft YaHei"/>
              </a:rPr>
              <a:t>07  评审清单与文档索引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99999"/>
                </a:solidFill>
                <a:latin typeface="Microsoft YaHei"/>
                <a:ea typeface="Microsoft YaHei"/>
              </a:rPr>
              <a:t>交付前逐项确认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0F6FF"/>
          </a:solidFill>
          <a:ln w="12700">
            <a:solidFill>
              <a:srgbClr val="9CC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3990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页面仅使用本表登记字号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4300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137160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0F6FF"/>
          </a:solidFill>
          <a:ln w="12700">
            <a:solidFill>
              <a:srgbClr val="9CC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3990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单卡片字号层级 ≤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05740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28600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0F6FF"/>
          </a:solidFill>
          <a:ln w="12700">
            <a:solidFill>
              <a:srgbClr val="9CC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3134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关键数字有单位 + 时间口径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5740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92240" y="228600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0F6FF"/>
          </a:solidFill>
          <a:ln w="12700">
            <a:solidFill>
              <a:srgbClr val="9CC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3134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风险披露 ≥ 11px 且对比度可读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7180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20040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0F6FF"/>
          </a:solidFill>
          <a:ln w="12700">
            <a:solidFill>
              <a:srgbClr val="9CC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2278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按钮文字为 button（16/600），触控高度 ≥ 44px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971800"/>
            <a:ext cx="5623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320040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0F6FF"/>
          </a:solidFill>
          <a:ln w="12700">
            <a:solidFill>
              <a:srgbClr val="9CC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2278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未混用未授权字体家族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14800"/>
            <a:ext cx="11247120" cy="1920240"/>
          </a:xfrm>
          <a:prstGeom prst="roundRect">
            <a:avLst>
              <a:gd name="adj" fmla="val 8000"/>
            </a:avLst>
          </a:prstGeom>
          <a:solidFill>
            <a:srgbClr val="DBEBFF"/>
          </a:solidFill>
          <a:ln w="12700">
            <a:solidFill>
              <a:srgbClr val="9CC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297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文档与样张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7091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规范 MD：qieman-skills/.../references/typography-scale.md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数值源：SKILL.md → typography: YAML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可视化样张：assets/prototypes/typography-specimen.html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06060"/>
                </a:solidFill>
                <a:latin typeface="Microsoft YaHei"/>
                <a:ea typeface="Microsoft YaHei"/>
              </a:rPr>
              <a:t>Skill：npx openskills read qieman-ui-design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qieman-ui-design · L0 typography  |  且慢设计规范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99999"/>
                </a:solidFill>
                <a:latin typeface="Microsoft YaHei"/>
                <a:ea typeface="Microsoft YaHe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